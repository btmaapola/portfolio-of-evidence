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Public Sans Bold" charset="1" panose="00000000000000000000"/>
      <p:regular r:id="rId9"/>
    </p:embeddedFont>
    <p:embeddedFont>
      <p:font typeface="Public Sans" charset="1" panose="0000000000000000000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65212A"/>
        </a:solidFill>
      </p:bgPr>
    </p:bg>
    <p:spTree>
      <p:nvGrpSpPr>
        <p:cNvPr id="1" name=""/>
        <p:cNvGrpSpPr/>
        <p:nvPr/>
      </p:nvGrpSpPr>
      <p:grpSpPr>
        <a:xfrm>
          <a:off x="0" y="0"/>
          <a:ext cx="0" cy="0"/>
          <a:chOff x="0" y="0"/>
          <a:chExt cx="0" cy="0"/>
        </a:xfrm>
      </p:grpSpPr>
      <p:sp>
        <p:nvSpPr>
          <p:cNvPr name="TextBox 2" id="2"/>
          <p:cNvSpPr txBox="true"/>
          <p:nvPr/>
        </p:nvSpPr>
        <p:spPr>
          <a:xfrm rot="0">
            <a:off x="1028700" y="2933700"/>
            <a:ext cx="12942131" cy="2076450"/>
          </a:xfrm>
          <a:prstGeom prst="rect">
            <a:avLst/>
          </a:prstGeom>
        </p:spPr>
        <p:txBody>
          <a:bodyPr anchor="t" rtlCol="false" tIns="0" lIns="0" bIns="0" rIns="0">
            <a:spAutoFit/>
          </a:bodyPr>
          <a:lstStyle/>
          <a:p>
            <a:pPr algn="l">
              <a:lnSpc>
                <a:spcPts val="16800"/>
              </a:lnSpc>
              <a:spcBef>
                <a:spcPct val="0"/>
              </a:spcBef>
            </a:pPr>
            <a:r>
              <a:rPr lang="en-US" sz="12000" b="true">
                <a:solidFill>
                  <a:srgbClr val="F4F1ED"/>
                </a:solidFill>
                <a:latin typeface="Public Sans Bold"/>
                <a:ea typeface="Public Sans Bold"/>
                <a:cs typeface="Public Sans Bold"/>
                <a:sym typeface="Public Sans Bold"/>
              </a:rPr>
              <a:t>Finacial Services</a:t>
            </a:r>
          </a:p>
        </p:txBody>
      </p:sp>
      <p:sp>
        <p:nvSpPr>
          <p:cNvPr name="TextBox 3" id="3"/>
          <p:cNvSpPr txBox="true"/>
          <p:nvPr/>
        </p:nvSpPr>
        <p:spPr>
          <a:xfrm rot="0">
            <a:off x="1028700" y="5090372"/>
            <a:ext cx="12856727" cy="721995"/>
          </a:xfrm>
          <a:prstGeom prst="rect">
            <a:avLst/>
          </a:prstGeom>
        </p:spPr>
        <p:txBody>
          <a:bodyPr anchor="t" rtlCol="false" tIns="0" lIns="0" bIns="0" rIns="0">
            <a:spAutoFit/>
          </a:bodyPr>
          <a:lstStyle/>
          <a:p>
            <a:pPr algn="l">
              <a:lnSpc>
                <a:spcPts val="5880"/>
              </a:lnSpc>
              <a:spcBef>
                <a:spcPct val="0"/>
              </a:spcBef>
            </a:pPr>
            <a:r>
              <a:rPr lang="en-US" sz="4200">
                <a:solidFill>
                  <a:srgbClr val="F4F1ED"/>
                </a:solidFill>
                <a:latin typeface="Public Sans"/>
                <a:ea typeface="Public Sans"/>
                <a:cs typeface="Public Sans"/>
                <a:sym typeface="Public Sans"/>
              </a:rPr>
              <a:t>Financial Services Uses In Tanzania</a:t>
            </a:r>
          </a:p>
        </p:txBody>
      </p:sp>
      <p:grpSp>
        <p:nvGrpSpPr>
          <p:cNvPr name="Group 4" id="4"/>
          <p:cNvGrpSpPr/>
          <p:nvPr/>
        </p:nvGrpSpPr>
        <p:grpSpPr>
          <a:xfrm rot="0">
            <a:off x="14533478" y="6532478"/>
            <a:ext cx="3754522" cy="3754522"/>
            <a:chOff x="0" y="0"/>
            <a:chExt cx="5006029" cy="5006029"/>
          </a:xfrm>
        </p:grpSpPr>
        <p:grpSp>
          <p:nvGrpSpPr>
            <p:cNvPr name="Group 5" id="5"/>
            <p:cNvGrpSpPr/>
            <p:nvPr/>
          </p:nvGrpSpPr>
          <p:grpSpPr>
            <a:xfrm rot="0">
              <a:off x="2503014" y="2503014"/>
              <a:ext cx="1251507" cy="1251507"/>
              <a:chOff x="0" y="0"/>
              <a:chExt cx="1913890" cy="1913890"/>
            </a:xfrm>
          </p:grpSpPr>
          <p:sp>
            <p:nvSpPr>
              <p:cNvPr name="Freeform 6" id="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4F1ED"/>
              </a:solidFill>
            </p:spPr>
          </p:sp>
        </p:grpSp>
        <p:grpSp>
          <p:nvGrpSpPr>
            <p:cNvPr name="Group 7" id="7"/>
            <p:cNvGrpSpPr/>
            <p:nvPr/>
          </p:nvGrpSpPr>
          <p:grpSpPr>
            <a:xfrm rot="0">
              <a:off x="2503014" y="1251507"/>
              <a:ext cx="1251507" cy="1251507"/>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9" id="9"/>
            <p:cNvGrpSpPr/>
            <p:nvPr/>
          </p:nvGrpSpPr>
          <p:grpSpPr>
            <a:xfrm rot="0">
              <a:off x="1251507" y="2503014"/>
              <a:ext cx="1251507" cy="1251507"/>
              <a:chOff x="0" y="0"/>
              <a:chExt cx="1913890" cy="1913890"/>
            </a:xfrm>
          </p:grpSpPr>
          <p:sp>
            <p:nvSpPr>
              <p:cNvPr name="Freeform 10" id="1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11" id="11"/>
            <p:cNvGrpSpPr/>
            <p:nvPr/>
          </p:nvGrpSpPr>
          <p:grpSpPr>
            <a:xfrm rot="0">
              <a:off x="3754522" y="3754522"/>
              <a:ext cx="1251507" cy="1251507"/>
              <a:chOff x="0" y="0"/>
              <a:chExt cx="1913890" cy="1913890"/>
            </a:xfrm>
          </p:grpSpPr>
          <p:sp>
            <p:nvSpPr>
              <p:cNvPr name="Freeform 12" id="12"/>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4F1ED"/>
              </a:solidFill>
            </p:spPr>
          </p:sp>
        </p:grpSp>
        <p:grpSp>
          <p:nvGrpSpPr>
            <p:cNvPr name="Group 13" id="13"/>
            <p:cNvGrpSpPr/>
            <p:nvPr/>
          </p:nvGrpSpPr>
          <p:grpSpPr>
            <a:xfrm rot="0">
              <a:off x="3754522" y="2503014"/>
              <a:ext cx="1251507" cy="1251507"/>
              <a:chOff x="0" y="0"/>
              <a:chExt cx="1913890" cy="1913890"/>
            </a:xfrm>
          </p:grpSpPr>
          <p:sp>
            <p:nvSpPr>
              <p:cNvPr name="Freeform 14" id="1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15" id="15"/>
            <p:cNvGrpSpPr/>
            <p:nvPr/>
          </p:nvGrpSpPr>
          <p:grpSpPr>
            <a:xfrm rot="0">
              <a:off x="2503014" y="3754522"/>
              <a:ext cx="1251507" cy="1251507"/>
              <a:chOff x="0" y="0"/>
              <a:chExt cx="1913890" cy="1913890"/>
            </a:xfrm>
          </p:grpSpPr>
          <p:sp>
            <p:nvSpPr>
              <p:cNvPr name="Freeform 16" id="1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17" id="17"/>
            <p:cNvGrpSpPr/>
            <p:nvPr/>
          </p:nvGrpSpPr>
          <p:grpSpPr>
            <a:xfrm rot="0">
              <a:off x="3754522" y="1251507"/>
              <a:ext cx="1251507" cy="1251507"/>
              <a:chOff x="0" y="0"/>
              <a:chExt cx="1913890" cy="1913890"/>
            </a:xfrm>
          </p:grpSpPr>
          <p:sp>
            <p:nvSpPr>
              <p:cNvPr name="Freeform 18" id="1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4F1ED"/>
              </a:solidFill>
            </p:spPr>
          </p:sp>
        </p:grpSp>
        <p:grpSp>
          <p:nvGrpSpPr>
            <p:cNvPr name="Group 19" id="19"/>
            <p:cNvGrpSpPr/>
            <p:nvPr/>
          </p:nvGrpSpPr>
          <p:grpSpPr>
            <a:xfrm rot="0">
              <a:off x="1251507" y="3754522"/>
              <a:ext cx="1251507" cy="1251507"/>
              <a:chOff x="0" y="0"/>
              <a:chExt cx="1913890" cy="1913890"/>
            </a:xfrm>
          </p:grpSpPr>
          <p:sp>
            <p:nvSpPr>
              <p:cNvPr name="Freeform 20" id="2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4F1ED"/>
              </a:solidFill>
            </p:spPr>
          </p:sp>
        </p:grpSp>
        <p:grpSp>
          <p:nvGrpSpPr>
            <p:cNvPr name="Group 21" id="21"/>
            <p:cNvGrpSpPr/>
            <p:nvPr/>
          </p:nvGrpSpPr>
          <p:grpSpPr>
            <a:xfrm rot="0">
              <a:off x="3754522" y="0"/>
              <a:ext cx="1251507" cy="1251507"/>
              <a:chOff x="0" y="0"/>
              <a:chExt cx="1913890" cy="1913890"/>
            </a:xfrm>
          </p:grpSpPr>
          <p:sp>
            <p:nvSpPr>
              <p:cNvPr name="Freeform 22" id="22"/>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23" id="23"/>
            <p:cNvGrpSpPr/>
            <p:nvPr/>
          </p:nvGrpSpPr>
          <p:grpSpPr>
            <a:xfrm rot="0">
              <a:off x="0" y="3754522"/>
              <a:ext cx="1251507" cy="1251507"/>
              <a:chOff x="0" y="0"/>
              <a:chExt cx="1913890" cy="1913890"/>
            </a:xfrm>
          </p:grpSpPr>
          <p:sp>
            <p:nvSpPr>
              <p:cNvPr name="Freeform 24" id="2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25" id="25"/>
            <p:cNvGrpSpPr/>
            <p:nvPr/>
          </p:nvGrpSpPr>
          <p:grpSpPr>
            <a:xfrm rot="0">
              <a:off x="2503014" y="1251507"/>
              <a:ext cx="1251507" cy="1251507"/>
              <a:chOff x="0" y="0"/>
              <a:chExt cx="1913890" cy="1913890"/>
            </a:xfrm>
          </p:grpSpPr>
          <p:sp>
            <p:nvSpPr>
              <p:cNvPr name="Freeform 26" id="2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00000">
                  <a:alpha val="0"/>
                </a:srgbClr>
              </a:solidFill>
            </p:spPr>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1ED"/>
        </a:solidFill>
      </p:bgPr>
    </p:bg>
    <p:spTree>
      <p:nvGrpSpPr>
        <p:cNvPr id="1" name=""/>
        <p:cNvGrpSpPr/>
        <p:nvPr/>
      </p:nvGrpSpPr>
      <p:grpSpPr>
        <a:xfrm>
          <a:off x="0" y="0"/>
          <a:ext cx="0" cy="0"/>
          <a:chOff x="0" y="0"/>
          <a:chExt cx="0" cy="0"/>
        </a:xfrm>
      </p:grpSpPr>
      <p:grpSp>
        <p:nvGrpSpPr>
          <p:cNvPr name="Group 2" id="2"/>
          <p:cNvGrpSpPr/>
          <p:nvPr/>
        </p:nvGrpSpPr>
        <p:grpSpPr>
          <a:xfrm rot="0">
            <a:off x="16410739" y="8409739"/>
            <a:ext cx="1877261" cy="1877261"/>
            <a:chOff x="0" y="0"/>
            <a:chExt cx="2503014" cy="2503014"/>
          </a:xfrm>
        </p:grpSpPr>
        <p:grpSp>
          <p:nvGrpSpPr>
            <p:cNvPr name="Group 3" id="3"/>
            <p:cNvGrpSpPr/>
            <p:nvPr/>
          </p:nvGrpSpPr>
          <p:grpSpPr>
            <a:xfrm rot="0">
              <a:off x="1251507" y="1251507"/>
              <a:ext cx="1251507" cy="1251507"/>
              <a:chOff x="0" y="0"/>
              <a:chExt cx="1913890" cy="1913890"/>
            </a:xfrm>
          </p:grpSpPr>
          <p:sp>
            <p:nvSpPr>
              <p:cNvPr name="Freeform 4" id="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65212A"/>
              </a:solidFill>
            </p:spPr>
          </p:sp>
        </p:grpSp>
        <p:grpSp>
          <p:nvGrpSpPr>
            <p:cNvPr name="Group 5" id="5"/>
            <p:cNvGrpSpPr/>
            <p:nvPr/>
          </p:nvGrpSpPr>
          <p:grpSpPr>
            <a:xfrm rot="0">
              <a:off x="1251507" y="0"/>
              <a:ext cx="1251507" cy="1251507"/>
              <a:chOff x="0" y="0"/>
              <a:chExt cx="1913890" cy="1913890"/>
            </a:xfrm>
          </p:grpSpPr>
          <p:sp>
            <p:nvSpPr>
              <p:cNvPr name="Freeform 6" id="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7" id="7"/>
            <p:cNvGrpSpPr/>
            <p:nvPr/>
          </p:nvGrpSpPr>
          <p:grpSpPr>
            <a:xfrm rot="0">
              <a:off x="0" y="1251507"/>
              <a:ext cx="1251507" cy="1251507"/>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sp>
        <p:nvSpPr>
          <p:cNvPr name="Freeform 9" id="9"/>
          <p:cNvSpPr/>
          <p:nvPr/>
        </p:nvSpPr>
        <p:spPr>
          <a:xfrm flipH="false" flipV="false" rot="0">
            <a:off x="1028700" y="1028700"/>
            <a:ext cx="6253183" cy="3533048"/>
          </a:xfrm>
          <a:custGeom>
            <a:avLst/>
            <a:gdLst/>
            <a:ahLst/>
            <a:cxnLst/>
            <a:rect r="r" b="b" t="t" l="l"/>
            <a:pathLst>
              <a:path h="3533048" w="6253183">
                <a:moveTo>
                  <a:pt x="0" y="0"/>
                </a:moveTo>
                <a:lnTo>
                  <a:pt x="6253183" y="0"/>
                </a:lnTo>
                <a:lnTo>
                  <a:pt x="6253183" y="3533048"/>
                </a:lnTo>
                <a:lnTo>
                  <a:pt x="0" y="3533048"/>
                </a:lnTo>
                <a:lnTo>
                  <a:pt x="0" y="0"/>
                </a:lnTo>
                <a:close/>
              </a:path>
            </a:pathLst>
          </a:custGeom>
          <a:blipFill>
            <a:blip r:embed="rId2"/>
            <a:stretch>
              <a:fillRect l="0" t="0" r="0" b="0"/>
            </a:stretch>
          </a:blipFill>
        </p:spPr>
      </p:sp>
      <p:sp>
        <p:nvSpPr>
          <p:cNvPr name="Freeform 10" id="10"/>
          <p:cNvSpPr/>
          <p:nvPr/>
        </p:nvSpPr>
        <p:spPr>
          <a:xfrm flipH="false" flipV="false" rot="0">
            <a:off x="7471970" y="1028700"/>
            <a:ext cx="6198330" cy="3533048"/>
          </a:xfrm>
          <a:custGeom>
            <a:avLst/>
            <a:gdLst/>
            <a:ahLst/>
            <a:cxnLst/>
            <a:rect r="r" b="b" t="t" l="l"/>
            <a:pathLst>
              <a:path h="3533048" w="6198330">
                <a:moveTo>
                  <a:pt x="0" y="0"/>
                </a:moveTo>
                <a:lnTo>
                  <a:pt x="6198330" y="0"/>
                </a:lnTo>
                <a:lnTo>
                  <a:pt x="6198330" y="3533048"/>
                </a:lnTo>
                <a:lnTo>
                  <a:pt x="0" y="3533048"/>
                </a:lnTo>
                <a:lnTo>
                  <a:pt x="0" y="0"/>
                </a:lnTo>
                <a:close/>
              </a:path>
            </a:pathLst>
          </a:custGeom>
          <a:blipFill>
            <a:blip r:embed="rId3"/>
            <a:stretch>
              <a:fillRect l="0" t="0" r="0" b="0"/>
            </a:stretch>
          </a:blipFill>
        </p:spPr>
      </p:sp>
      <p:sp>
        <p:nvSpPr>
          <p:cNvPr name="Freeform 11" id="11"/>
          <p:cNvSpPr/>
          <p:nvPr/>
        </p:nvSpPr>
        <p:spPr>
          <a:xfrm flipH="false" flipV="false" rot="0">
            <a:off x="1028700" y="4929403"/>
            <a:ext cx="6253183" cy="3626846"/>
          </a:xfrm>
          <a:custGeom>
            <a:avLst/>
            <a:gdLst/>
            <a:ahLst/>
            <a:cxnLst/>
            <a:rect r="r" b="b" t="t" l="l"/>
            <a:pathLst>
              <a:path h="3626846" w="6253183">
                <a:moveTo>
                  <a:pt x="0" y="0"/>
                </a:moveTo>
                <a:lnTo>
                  <a:pt x="6253183" y="0"/>
                </a:lnTo>
                <a:lnTo>
                  <a:pt x="6253183" y="3626846"/>
                </a:lnTo>
                <a:lnTo>
                  <a:pt x="0" y="3626846"/>
                </a:lnTo>
                <a:lnTo>
                  <a:pt x="0" y="0"/>
                </a:lnTo>
                <a:close/>
              </a:path>
            </a:pathLst>
          </a:custGeom>
          <a:blipFill>
            <a:blip r:embed="rId4"/>
            <a:stretch>
              <a:fillRect l="0" t="0" r="0" b="0"/>
            </a:stretch>
          </a:blipFill>
        </p:spPr>
      </p:sp>
      <p:sp>
        <p:nvSpPr>
          <p:cNvPr name="Freeform 12" id="12"/>
          <p:cNvSpPr/>
          <p:nvPr/>
        </p:nvSpPr>
        <p:spPr>
          <a:xfrm flipH="false" flipV="false" rot="0">
            <a:off x="7486851" y="4977679"/>
            <a:ext cx="6183450" cy="3578570"/>
          </a:xfrm>
          <a:custGeom>
            <a:avLst/>
            <a:gdLst/>
            <a:ahLst/>
            <a:cxnLst/>
            <a:rect r="r" b="b" t="t" l="l"/>
            <a:pathLst>
              <a:path h="3578570" w="6183450">
                <a:moveTo>
                  <a:pt x="0" y="0"/>
                </a:moveTo>
                <a:lnTo>
                  <a:pt x="6183449" y="0"/>
                </a:lnTo>
                <a:lnTo>
                  <a:pt x="6183449" y="3578570"/>
                </a:lnTo>
                <a:lnTo>
                  <a:pt x="0" y="3578570"/>
                </a:lnTo>
                <a:lnTo>
                  <a:pt x="0" y="0"/>
                </a:lnTo>
                <a:close/>
              </a:path>
            </a:pathLst>
          </a:custGeom>
          <a:blipFill>
            <a:blip r:embed="rId5"/>
            <a:stretch>
              <a:fillRect l="-8868" t="0" r="-8868" b="0"/>
            </a:stretch>
          </a:blipFill>
        </p:spPr>
      </p:sp>
      <p:sp>
        <p:nvSpPr>
          <p:cNvPr name="TextBox 13" id="13"/>
          <p:cNvSpPr txBox="true"/>
          <p:nvPr/>
        </p:nvSpPr>
        <p:spPr>
          <a:xfrm rot="0">
            <a:off x="14061208" y="971550"/>
            <a:ext cx="3498010" cy="7548245"/>
          </a:xfrm>
          <a:prstGeom prst="rect">
            <a:avLst/>
          </a:prstGeom>
        </p:spPr>
        <p:txBody>
          <a:bodyPr anchor="t" rtlCol="false" tIns="0" lIns="0" bIns="0" rIns="0">
            <a:spAutoFit/>
          </a:bodyPr>
          <a:lstStyle/>
          <a:p>
            <a:pPr algn="ctr">
              <a:lnSpc>
                <a:spcPts val="2800"/>
              </a:lnSpc>
            </a:pPr>
            <a:r>
              <a:rPr lang="en-US" sz="2000" b="true">
                <a:solidFill>
                  <a:srgbClr val="000000"/>
                </a:solidFill>
                <a:latin typeface="Public Sans Bold"/>
                <a:ea typeface="Public Sans Bold"/>
                <a:cs typeface="Public Sans Bold"/>
                <a:sym typeface="Public Sans Bold"/>
              </a:rPr>
              <a:t>Commentary: </a:t>
            </a:r>
          </a:p>
          <a:p>
            <a:pPr algn="ctr">
              <a:lnSpc>
                <a:spcPts val="1960"/>
              </a:lnSpc>
            </a:pPr>
          </a:p>
          <a:p>
            <a:pPr algn="l">
              <a:lnSpc>
                <a:spcPts val="1960"/>
              </a:lnSpc>
            </a:pPr>
            <a:r>
              <a:rPr lang="en-US" sz="1400">
                <a:solidFill>
                  <a:srgbClr val="000000"/>
                </a:solidFill>
                <a:latin typeface="Public Sans"/>
                <a:ea typeface="Public Sans"/>
                <a:cs typeface="Public Sans"/>
                <a:sym typeface="Public Sans"/>
              </a:rPr>
              <a:t>The report represents the financial services uses in Tanzania, the views are based on the FSDT Finscope 2017 survey.</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The financial services usage by age groups suggests that the usage decreases with Age. The age group of 16 to 25 years dominates the no financial services and the mobile money only categories, while the age group 26 to 35 years dominates the mobile money plus and other financial services.</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The financial services used by gender shows that Males are likely to use the mobile money plus, while Females domiates other categories.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The marital status view shows that Married people are likely to use financial services, than other groups.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 The data shows that majority of financial services users are non land owners.</a:t>
            </a:r>
          </a:p>
          <a:p>
            <a:pPr algn="l">
              <a:lnSpc>
                <a:spcPts val="1960"/>
              </a:lnSpc>
            </a:pPr>
          </a:p>
          <a:p>
            <a:pPr algn="l">
              <a:lnSpc>
                <a:spcPts val="1960"/>
              </a:lnSpc>
              <a:spcBef>
                <a:spcPct val="0"/>
              </a:spcBef>
            </a:pPr>
            <a:r>
              <a:rPr lang="en-US" sz="1400">
                <a:solidFill>
                  <a:srgbClr val="000000"/>
                </a:solidFill>
                <a:latin typeface="Public Sans"/>
                <a:ea typeface="Public Sans"/>
                <a:cs typeface="Public Sans"/>
                <a:sym typeface="Public Sans"/>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1ED"/>
        </a:solidFill>
      </p:bgPr>
    </p:bg>
    <p:spTree>
      <p:nvGrpSpPr>
        <p:cNvPr id="1" name=""/>
        <p:cNvGrpSpPr/>
        <p:nvPr/>
      </p:nvGrpSpPr>
      <p:grpSpPr>
        <a:xfrm>
          <a:off x="0" y="0"/>
          <a:ext cx="0" cy="0"/>
          <a:chOff x="0" y="0"/>
          <a:chExt cx="0" cy="0"/>
        </a:xfrm>
      </p:grpSpPr>
      <p:grpSp>
        <p:nvGrpSpPr>
          <p:cNvPr name="Group 2" id="2"/>
          <p:cNvGrpSpPr/>
          <p:nvPr/>
        </p:nvGrpSpPr>
        <p:grpSpPr>
          <a:xfrm rot="0">
            <a:off x="14533478" y="6532478"/>
            <a:ext cx="3754522" cy="3754522"/>
            <a:chOff x="0" y="0"/>
            <a:chExt cx="5006029" cy="5006029"/>
          </a:xfrm>
        </p:grpSpPr>
        <p:grpSp>
          <p:nvGrpSpPr>
            <p:cNvPr name="Group 3" id="3"/>
            <p:cNvGrpSpPr/>
            <p:nvPr/>
          </p:nvGrpSpPr>
          <p:grpSpPr>
            <a:xfrm rot="0">
              <a:off x="2503014" y="2503014"/>
              <a:ext cx="1251507" cy="1251507"/>
              <a:chOff x="0" y="0"/>
              <a:chExt cx="1913890" cy="1913890"/>
            </a:xfrm>
          </p:grpSpPr>
          <p:sp>
            <p:nvSpPr>
              <p:cNvPr name="Freeform 4" id="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65212A"/>
              </a:solidFill>
            </p:spPr>
          </p:sp>
        </p:grpSp>
        <p:grpSp>
          <p:nvGrpSpPr>
            <p:cNvPr name="Group 5" id="5"/>
            <p:cNvGrpSpPr/>
            <p:nvPr/>
          </p:nvGrpSpPr>
          <p:grpSpPr>
            <a:xfrm rot="0">
              <a:off x="2503014" y="1251507"/>
              <a:ext cx="1251507" cy="1251507"/>
              <a:chOff x="0" y="0"/>
              <a:chExt cx="1913890" cy="1913890"/>
            </a:xfrm>
          </p:grpSpPr>
          <p:sp>
            <p:nvSpPr>
              <p:cNvPr name="Freeform 6" id="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7" id="7"/>
            <p:cNvGrpSpPr/>
            <p:nvPr/>
          </p:nvGrpSpPr>
          <p:grpSpPr>
            <a:xfrm rot="0">
              <a:off x="1251507" y="2503014"/>
              <a:ext cx="1251507" cy="1251507"/>
              <a:chOff x="0" y="0"/>
              <a:chExt cx="1913890" cy="1913890"/>
            </a:xfrm>
          </p:grpSpPr>
          <p:sp>
            <p:nvSpPr>
              <p:cNvPr name="Freeform 8" id="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9" id="9"/>
            <p:cNvGrpSpPr/>
            <p:nvPr/>
          </p:nvGrpSpPr>
          <p:grpSpPr>
            <a:xfrm rot="0">
              <a:off x="3754522" y="3754522"/>
              <a:ext cx="1251507" cy="1251507"/>
              <a:chOff x="0" y="0"/>
              <a:chExt cx="1913890" cy="1913890"/>
            </a:xfrm>
          </p:grpSpPr>
          <p:sp>
            <p:nvSpPr>
              <p:cNvPr name="Freeform 10" id="1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65212A"/>
              </a:solidFill>
            </p:spPr>
          </p:sp>
        </p:grpSp>
        <p:grpSp>
          <p:nvGrpSpPr>
            <p:cNvPr name="Group 11" id="11"/>
            <p:cNvGrpSpPr/>
            <p:nvPr/>
          </p:nvGrpSpPr>
          <p:grpSpPr>
            <a:xfrm rot="0">
              <a:off x="3754522" y="2503014"/>
              <a:ext cx="1251507" cy="1251507"/>
              <a:chOff x="0" y="0"/>
              <a:chExt cx="1913890" cy="1913890"/>
            </a:xfrm>
          </p:grpSpPr>
          <p:sp>
            <p:nvSpPr>
              <p:cNvPr name="Freeform 12" id="12"/>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13" id="13"/>
            <p:cNvGrpSpPr/>
            <p:nvPr/>
          </p:nvGrpSpPr>
          <p:grpSpPr>
            <a:xfrm rot="0">
              <a:off x="2503014" y="3754522"/>
              <a:ext cx="1251507" cy="1251507"/>
              <a:chOff x="0" y="0"/>
              <a:chExt cx="1913890" cy="1913890"/>
            </a:xfrm>
          </p:grpSpPr>
          <p:sp>
            <p:nvSpPr>
              <p:cNvPr name="Freeform 14" id="1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15" id="15"/>
            <p:cNvGrpSpPr/>
            <p:nvPr/>
          </p:nvGrpSpPr>
          <p:grpSpPr>
            <a:xfrm rot="0">
              <a:off x="3754522" y="1251507"/>
              <a:ext cx="1251507" cy="1251507"/>
              <a:chOff x="0" y="0"/>
              <a:chExt cx="1913890" cy="1913890"/>
            </a:xfrm>
          </p:grpSpPr>
          <p:sp>
            <p:nvSpPr>
              <p:cNvPr name="Freeform 16" id="16"/>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65212A"/>
              </a:solidFill>
            </p:spPr>
          </p:sp>
        </p:grpSp>
        <p:grpSp>
          <p:nvGrpSpPr>
            <p:cNvPr name="Group 17" id="17"/>
            <p:cNvGrpSpPr/>
            <p:nvPr/>
          </p:nvGrpSpPr>
          <p:grpSpPr>
            <a:xfrm rot="0">
              <a:off x="1251507" y="3754522"/>
              <a:ext cx="1251507" cy="1251507"/>
              <a:chOff x="0" y="0"/>
              <a:chExt cx="1913890" cy="1913890"/>
            </a:xfrm>
          </p:grpSpPr>
          <p:sp>
            <p:nvSpPr>
              <p:cNvPr name="Freeform 18" id="18"/>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65212A"/>
              </a:solidFill>
            </p:spPr>
          </p:sp>
        </p:grpSp>
        <p:grpSp>
          <p:nvGrpSpPr>
            <p:cNvPr name="Group 19" id="19"/>
            <p:cNvGrpSpPr/>
            <p:nvPr/>
          </p:nvGrpSpPr>
          <p:grpSpPr>
            <a:xfrm rot="0">
              <a:off x="3754522" y="0"/>
              <a:ext cx="1251507" cy="1251507"/>
              <a:chOff x="0" y="0"/>
              <a:chExt cx="1913890" cy="1913890"/>
            </a:xfrm>
          </p:grpSpPr>
          <p:sp>
            <p:nvSpPr>
              <p:cNvPr name="Freeform 20" id="20"/>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FF6950"/>
              </a:solidFill>
            </p:spPr>
          </p:sp>
        </p:grpSp>
        <p:grpSp>
          <p:nvGrpSpPr>
            <p:cNvPr name="Group 21" id="21"/>
            <p:cNvGrpSpPr/>
            <p:nvPr/>
          </p:nvGrpSpPr>
          <p:grpSpPr>
            <a:xfrm rot="0">
              <a:off x="0" y="3754522"/>
              <a:ext cx="1251507" cy="1251507"/>
              <a:chOff x="0" y="0"/>
              <a:chExt cx="1913890" cy="1913890"/>
            </a:xfrm>
          </p:grpSpPr>
          <p:sp>
            <p:nvSpPr>
              <p:cNvPr name="Freeform 22" id="22"/>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CF4545"/>
              </a:solidFill>
            </p:spPr>
          </p:sp>
        </p:grpSp>
        <p:grpSp>
          <p:nvGrpSpPr>
            <p:cNvPr name="Group 23" id="23"/>
            <p:cNvGrpSpPr/>
            <p:nvPr/>
          </p:nvGrpSpPr>
          <p:grpSpPr>
            <a:xfrm rot="0">
              <a:off x="2503014" y="1251507"/>
              <a:ext cx="1251507" cy="1251507"/>
              <a:chOff x="0" y="0"/>
              <a:chExt cx="1913890" cy="1913890"/>
            </a:xfrm>
          </p:grpSpPr>
          <p:sp>
            <p:nvSpPr>
              <p:cNvPr name="Freeform 24" id="24"/>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00000">
                  <a:alpha val="0"/>
                </a:srgbClr>
              </a:solidFill>
            </p:spPr>
          </p:sp>
        </p:grpSp>
      </p:grpSp>
      <p:sp>
        <p:nvSpPr>
          <p:cNvPr name="Freeform 25" id="25"/>
          <p:cNvSpPr/>
          <p:nvPr/>
        </p:nvSpPr>
        <p:spPr>
          <a:xfrm flipH="false" flipV="false" rot="0">
            <a:off x="1028700" y="1028700"/>
            <a:ext cx="6557183" cy="3721202"/>
          </a:xfrm>
          <a:custGeom>
            <a:avLst/>
            <a:gdLst/>
            <a:ahLst/>
            <a:cxnLst/>
            <a:rect r="r" b="b" t="t" l="l"/>
            <a:pathLst>
              <a:path h="3721202" w="6557183">
                <a:moveTo>
                  <a:pt x="0" y="0"/>
                </a:moveTo>
                <a:lnTo>
                  <a:pt x="6557183" y="0"/>
                </a:lnTo>
                <a:lnTo>
                  <a:pt x="6557183" y="3721202"/>
                </a:lnTo>
                <a:lnTo>
                  <a:pt x="0" y="3721202"/>
                </a:lnTo>
                <a:lnTo>
                  <a:pt x="0" y="0"/>
                </a:lnTo>
                <a:close/>
              </a:path>
            </a:pathLst>
          </a:custGeom>
          <a:blipFill>
            <a:blip r:embed="rId2"/>
            <a:stretch>
              <a:fillRect l="0" t="0" r="0" b="0"/>
            </a:stretch>
          </a:blipFill>
        </p:spPr>
      </p:sp>
      <p:sp>
        <p:nvSpPr>
          <p:cNvPr name="Freeform 26" id="26"/>
          <p:cNvSpPr/>
          <p:nvPr/>
        </p:nvSpPr>
        <p:spPr>
          <a:xfrm flipH="false" flipV="false" rot="0">
            <a:off x="7908322" y="1028700"/>
            <a:ext cx="6625157" cy="3801184"/>
          </a:xfrm>
          <a:custGeom>
            <a:avLst/>
            <a:gdLst/>
            <a:ahLst/>
            <a:cxnLst/>
            <a:rect r="r" b="b" t="t" l="l"/>
            <a:pathLst>
              <a:path h="3801184" w="6625157">
                <a:moveTo>
                  <a:pt x="0" y="0"/>
                </a:moveTo>
                <a:lnTo>
                  <a:pt x="6625156" y="0"/>
                </a:lnTo>
                <a:lnTo>
                  <a:pt x="6625156" y="3801184"/>
                </a:lnTo>
                <a:lnTo>
                  <a:pt x="0" y="3801184"/>
                </a:lnTo>
                <a:lnTo>
                  <a:pt x="0" y="0"/>
                </a:lnTo>
                <a:close/>
              </a:path>
            </a:pathLst>
          </a:custGeom>
          <a:blipFill>
            <a:blip r:embed="rId3"/>
            <a:stretch>
              <a:fillRect l="0" t="0" r="0" b="0"/>
            </a:stretch>
          </a:blipFill>
        </p:spPr>
      </p:sp>
      <p:sp>
        <p:nvSpPr>
          <p:cNvPr name="Freeform 27" id="27"/>
          <p:cNvSpPr/>
          <p:nvPr/>
        </p:nvSpPr>
        <p:spPr>
          <a:xfrm flipH="false" flipV="false" rot="0">
            <a:off x="1028700" y="5143500"/>
            <a:ext cx="6557183" cy="3745791"/>
          </a:xfrm>
          <a:custGeom>
            <a:avLst/>
            <a:gdLst/>
            <a:ahLst/>
            <a:cxnLst/>
            <a:rect r="r" b="b" t="t" l="l"/>
            <a:pathLst>
              <a:path h="3745791" w="6557183">
                <a:moveTo>
                  <a:pt x="0" y="0"/>
                </a:moveTo>
                <a:lnTo>
                  <a:pt x="6557183" y="0"/>
                </a:lnTo>
                <a:lnTo>
                  <a:pt x="6557183" y="3745791"/>
                </a:lnTo>
                <a:lnTo>
                  <a:pt x="0" y="3745791"/>
                </a:lnTo>
                <a:lnTo>
                  <a:pt x="0" y="0"/>
                </a:lnTo>
                <a:close/>
              </a:path>
            </a:pathLst>
          </a:custGeom>
          <a:blipFill>
            <a:blip r:embed="rId4"/>
            <a:stretch>
              <a:fillRect l="0" t="0" r="0" b="0"/>
            </a:stretch>
          </a:blipFill>
        </p:spPr>
      </p:sp>
      <p:sp>
        <p:nvSpPr>
          <p:cNvPr name="Freeform 28" id="28"/>
          <p:cNvSpPr/>
          <p:nvPr/>
        </p:nvSpPr>
        <p:spPr>
          <a:xfrm flipH="false" flipV="false" rot="0">
            <a:off x="7908322" y="5143500"/>
            <a:ext cx="5034152" cy="3745791"/>
          </a:xfrm>
          <a:custGeom>
            <a:avLst/>
            <a:gdLst/>
            <a:ahLst/>
            <a:cxnLst/>
            <a:rect r="r" b="b" t="t" l="l"/>
            <a:pathLst>
              <a:path h="3745791" w="5034152">
                <a:moveTo>
                  <a:pt x="0" y="0"/>
                </a:moveTo>
                <a:lnTo>
                  <a:pt x="5034152" y="0"/>
                </a:lnTo>
                <a:lnTo>
                  <a:pt x="5034152" y="3745791"/>
                </a:lnTo>
                <a:lnTo>
                  <a:pt x="0" y="3745791"/>
                </a:lnTo>
                <a:lnTo>
                  <a:pt x="0" y="0"/>
                </a:lnTo>
                <a:close/>
              </a:path>
            </a:pathLst>
          </a:custGeom>
          <a:blipFill>
            <a:blip r:embed="rId5"/>
            <a:stretch>
              <a:fillRect l="0" t="0" r="0" b="0"/>
            </a:stretch>
          </a:blipFill>
        </p:spPr>
      </p:sp>
      <p:sp>
        <p:nvSpPr>
          <p:cNvPr name="TextBox 29" id="29"/>
          <p:cNvSpPr txBox="true"/>
          <p:nvPr/>
        </p:nvSpPr>
        <p:spPr>
          <a:xfrm rot="0">
            <a:off x="14533478" y="717784"/>
            <a:ext cx="3754522" cy="8786495"/>
          </a:xfrm>
          <a:prstGeom prst="rect">
            <a:avLst/>
          </a:prstGeom>
        </p:spPr>
        <p:txBody>
          <a:bodyPr anchor="t" rtlCol="false" tIns="0" lIns="0" bIns="0" rIns="0">
            <a:spAutoFit/>
          </a:bodyPr>
          <a:lstStyle/>
          <a:p>
            <a:pPr algn="ctr">
              <a:lnSpc>
                <a:spcPts val="2800"/>
              </a:lnSpc>
            </a:pPr>
            <a:r>
              <a:rPr lang="en-US" sz="2000" b="true">
                <a:solidFill>
                  <a:srgbClr val="000000"/>
                </a:solidFill>
                <a:latin typeface="Public Sans Bold"/>
                <a:ea typeface="Public Sans Bold"/>
                <a:cs typeface="Public Sans Bold"/>
                <a:sym typeface="Public Sans Bold"/>
              </a:rPr>
              <a:t>Commentary: </a:t>
            </a:r>
          </a:p>
          <a:p>
            <a:pPr algn="ctr">
              <a:lnSpc>
                <a:spcPts val="1960"/>
              </a:lnSpc>
            </a:pPr>
          </a:p>
          <a:p>
            <a:pPr algn="l">
              <a:lnSpc>
                <a:spcPts val="1960"/>
              </a:lnSpc>
            </a:pPr>
            <a:r>
              <a:rPr lang="en-US" sz="1400">
                <a:solidFill>
                  <a:srgbClr val="000000"/>
                </a:solidFill>
                <a:latin typeface="Public Sans"/>
                <a:ea typeface="Public Sans"/>
                <a:cs typeface="Public Sans"/>
                <a:sym typeface="Public Sans"/>
              </a:rPr>
              <a:t>The usage of mobile money services for the purchasing of goods and services shows that: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F</a:t>
            </a:r>
            <a:r>
              <a:rPr lang="en-US" sz="1400">
                <a:solidFill>
                  <a:srgbClr val="000000"/>
                </a:solidFill>
                <a:latin typeface="Public Sans"/>
                <a:ea typeface="Public Sans"/>
                <a:cs typeface="Public Sans"/>
                <a:sym typeface="Public Sans"/>
              </a:rPr>
              <a:t>or different age groups 26-35 years people are frequent users of the mobile money services. The use of mobile money services peaks at the age group 25-35 years and decreases with increasing age.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Majority of people never use mobile money services. For those who do, they do that less often than a month, with males being the highest users.</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By marital status, Widows are likely to not use mobile money services  while divorced people are likely to use it. </a:t>
            </a:r>
          </a:p>
          <a:p>
            <a:pPr algn="l">
              <a:lnSpc>
                <a:spcPts val="1960"/>
              </a:lnSpc>
            </a:pPr>
          </a:p>
          <a:p>
            <a:pPr algn="l">
              <a:lnSpc>
                <a:spcPts val="1960"/>
              </a:lnSpc>
            </a:pPr>
            <a:r>
              <a:rPr lang="en-US" sz="1400">
                <a:solidFill>
                  <a:srgbClr val="000000"/>
                </a:solidFill>
                <a:latin typeface="Public Sans"/>
                <a:ea typeface="Public Sans"/>
                <a:cs typeface="Public Sans"/>
                <a:sym typeface="Public Sans"/>
              </a:rPr>
              <a:t>From the income types map.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The central and eastern region consisting of people who receive gifts as income and no income at all, which are the least financial services users. </a:t>
            </a:r>
          </a:p>
          <a:p>
            <a:pPr algn="l">
              <a:lnSpc>
                <a:spcPts val="1960"/>
              </a:lnSpc>
            </a:pPr>
          </a:p>
          <a:p>
            <a:pPr algn="l" marL="302261" indent="-151130" lvl="1">
              <a:lnSpc>
                <a:spcPts val="1960"/>
              </a:lnSpc>
              <a:buFont typeface="Arial"/>
              <a:buChar char="•"/>
            </a:pPr>
            <a:r>
              <a:rPr lang="en-US" sz="1400">
                <a:solidFill>
                  <a:srgbClr val="000000"/>
                </a:solidFill>
                <a:latin typeface="Public Sans"/>
                <a:ea typeface="Public Sans"/>
                <a:cs typeface="Public Sans"/>
                <a:sym typeface="Public Sans"/>
              </a:rPr>
              <a:t>Participants with occasional jobs and traders are distributed across Tanzania, with most located in the western region, along the river. These individuals are the first and second most users of mobile money services</a:t>
            </a:r>
          </a:p>
          <a:p>
            <a:pPr algn="l">
              <a:lnSpc>
                <a:spcPts val="1960"/>
              </a:lnSpc>
            </a:pPr>
          </a:p>
          <a:p>
            <a:pPr algn="l">
              <a:lnSpc>
                <a:spcPts val="1960"/>
              </a:lnSpc>
              <a:spcBef>
                <a:spcPct val="0"/>
              </a:spcBef>
            </a:pPr>
            <a:r>
              <a:rPr lang="en-US" sz="1400">
                <a:solidFill>
                  <a:srgbClr val="000000"/>
                </a:solidFill>
                <a:latin typeface="Public Sans"/>
                <a:ea typeface="Public Sans"/>
                <a:cs typeface="Public Sans"/>
                <a:sym typeface="Public Sans"/>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DAG6ecwBVCM</dc:identifier>
  <dcterms:modified xsi:type="dcterms:W3CDTF">2011-08-01T06:04:30Z</dcterms:modified>
  <cp:revision>1</cp:revision>
  <dc:title>Finacial Services</dc:title>
</cp:coreProperties>
</file>